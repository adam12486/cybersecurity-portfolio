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handoutMasterIdLst>
    <p:handoutMasterId r:id="rId16"/>
  </p:handoutMasterIdLst>
  <p:sldIdLst>
    <p:sldId id="257" r:id="rId5"/>
    <p:sldId id="270" r:id="rId6"/>
    <p:sldId id="268" r:id="rId7"/>
    <p:sldId id="273" r:id="rId8"/>
    <p:sldId id="274" r:id="rId9"/>
    <p:sldId id="272" r:id="rId10"/>
    <p:sldId id="275" r:id="rId11"/>
    <p:sldId id="276" r:id="rId12"/>
    <p:sldId id="277" r:id="rId13"/>
    <p:sldId id="263" r:id="rId14"/>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p:cViewPr varScale="1">
        <p:scale>
          <a:sx n="99" d="100"/>
          <a:sy n="99" d="100"/>
        </p:scale>
        <p:origin x="88" y="68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7942A0-B7D2-4B14-8FEA-55FC702F5BE7}" type="doc">
      <dgm:prSet loTypeId="urn:microsoft.com/office/officeart/2005/8/layout/vProcess5" loCatId="process" qsTypeId="urn:microsoft.com/office/officeart/2005/8/quickstyle/simple4" qsCatId="simple" csTypeId="urn:microsoft.com/office/officeart/2005/8/colors/colorful1" csCatId="colorful" phldr="1"/>
      <dgm:spPr/>
      <dgm:t>
        <a:bodyPr/>
        <a:lstStyle/>
        <a:p>
          <a:endParaRPr lang="en-US"/>
        </a:p>
      </dgm:t>
    </dgm:pt>
    <dgm:pt modelId="{1D84D8B6-AB32-4491-B5D2-EFE3D7668B88}" type="pres">
      <dgm:prSet presAssocID="{CD7942A0-B7D2-4B14-8FEA-55FC702F5BE7}" presName="outerComposite" presStyleCnt="0">
        <dgm:presLayoutVars>
          <dgm:chMax val="5"/>
          <dgm:dir/>
          <dgm:resizeHandles val="exact"/>
        </dgm:presLayoutVars>
      </dgm:prSet>
      <dgm:spPr/>
    </dgm:pt>
    <dgm:pt modelId="{3E0E8213-E460-4EB7-9A92-C2B1CC553F0D}" type="pres">
      <dgm:prSet presAssocID="{CD7942A0-B7D2-4B14-8FEA-55FC702F5BE7}" presName="dummyMaxCanvas" presStyleCnt="0">
        <dgm:presLayoutVars/>
      </dgm:prSet>
      <dgm:spPr/>
    </dgm:pt>
  </dgm:ptLst>
  <dgm:cxnLst>
    <dgm:cxn modelId="{C2D0E194-BD14-4AD2-9E3A-CE984C34B6CD}" type="presOf" srcId="{CD7942A0-B7D2-4B14-8FEA-55FC702F5BE7}" destId="{1D84D8B6-AB32-4491-B5D2-EFE3D7668B88}" srcOrd="0" destOrd="0" presId="urn:microsoft.com/office/officeart/2005/8/layout/vProcess5"/>
    <dgm:cxn modelId="{768DB908-A4BF-48A6-A740-5DD0CBAFBB11}" type="presParOf" srcId="{1D84D8B6-AB32-4491-B5D2-EFE3D7668B88}" destId="{3E0E8213-E460-4EB7-9A92-C2B1CC553F0D}" srcOrd="0"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11/29/2025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11/29/2025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2</a:t>
            </a:fld>
            <a:endParaRPr lang="en-US"/>
          </a:p>
        </p:txBody>
      </p:sp>
    </p:spTree>
    <p:extLst>
      <p:ext uri="{BB962C8B-B14F-4D97-AF65-F5344CB8AC3E}">
        <p14:creationId xmlns:p14="http://schemas.microsoft.com/office/powerpoint/2010/main" val="411722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11/29/2025</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11/29/2025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11/29/2025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11/29/2025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11/29/2025</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Information Security Policy</a:t>
            </a:r>
          </a:p>
        </p:txBody>
      </p:sp>
      <p:sp>
        <p:nvSpPr>
          <p:cNvPr id="4" name="Subtitle 3">
            <a:extLst>
              <a:ext uri="{FF2B5EF4-FFF2-40B4-BE49-F238E27FC236}">
                <a16:creationId xmlns:a16="http://schemas.microsoft.com/office/drawing/2014/main" id="{BAD68386-DD52-8E43-F587-628385C3C022}"/>
              </a:ext>
            </a:extLst>
          </p:cNvPr>
          <p:cNvSpPr>
            <a:spLocks noGrp="1"/>
          </p:cNvSpPr>
          <p:nvPr>
            <p:ph type="subTitle" idx="1"/>
          </p:nvPr>
        </p:nvSpPr>
        <p:spPr/>
        <p:txBody>
          <a:bodyPr/>
          <a:lstStyle/>
          <a:p>
            <a:r>
              <a:rPr lang="en-US" cap="none" dirty="0"/>
              <a:t>Protection of information and systems from unauthorized access and use in order to provide confidentiality, integrity, and availability. </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CIA Triad</a:t>
            </a:r>
          </a:p>
        </p:txBody>
      </p:sp>
      <p:sp>
        <p:nvSpPr>
          <p:cNvPr id="3" name="Content Placeholder 2"/>
          <p:cNvSpPr>
            <a:spLocks noGrp="1"/>
          </p:cNvSpPr>
          <p:nvPr>
            <p:ph sz="half" idx="1"/>
          </p:nvPr>
        </p:nvSpPr>
        <p:spPr/>
        <p:txBody>
          <a:bodyPr/>
          <a:lstStyle/>
          <a:p>
            <a:r>
              <a:rPr lang="en-US" dirty="0"/>
              <a:t>Confidentiality ensures data is hidden and protected. Only visible to authorized users.</a:t>
            </a:r>
          </a:p>
          <a:p>
            <a:r>
              <a:rPr lang="en-US" dirty="0"/>
              <a:t>Integrity assurance of accuracy and completeness of data and that it has not been modified or omitted. </a:t>
            </a:r>
          </a:p>
          <a:p>
            <a:r>
              <a:rPr lang="en-US" dirty="0"/>
              <a:t>Data is available when required. </a:t>
            </a:r>
          </a:p>
        </p:txBody>
      </p:sp>
      <p:graphicFrame>
        <p:nvGraphicFramePr>
          <p:cNvPr id="5" name="Content Placeholder 4" descr="Staggered process showing 3 tasks arranged one below the other and two downward pointing arrows are used to indicate progression from first task to second task and second task to third task."/>
          <p:cNvGraphicFramePr>
            <a:graphicFrameLocks noGrp="1"/>
          </p:cNvGraphicFramePr>
          <p:nvPr>
            <p:ph sz="half" idx="2"/>
            <p:extLst>
              <p:ext uri="{D42A27DB-BD31-4B8C-83A1-F6EECF244321}">
                <p14:modId xmlns:p14="http://schemas.microsoft.com/office/powerpoint/2010/main" val="4038437750"/>
              </p:ext>
            </p:extLst>
          </p:nvPr>
        </p:nvGraphicFramePr>
        <p:xfrm>
          <a:off x="6500813" y="1706563"/>
          <a:ext cx="5078412" cy="4465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39FFD348-7F29-34F0-BB39-F464EE378C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82078" y="1219199"/>
            <a:ext cx="6188472" cy="5364163"/>
          </a:xfrm>
          <a:prstGeom prst="rect">
            <a:avLst/>
          </a:prstGeom>
        </p:spPr>
      </p:pic>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What is the purpose of Information Security Policy?</a:t>
            </a:r>
          </a:p>
        </p:txBody>
      </p:sp>
      <p:sp>
        <p:nvSpPr>
          <p:cNvPr id="14" name="Content Placeholder 13"/>
          <p:cNvSpPr>
            <a:spLocks noGrp="1"/>
          </p:cNvSpPr>
          <p:nvPr>
            <p:ph idx="1"/>
          </p:nvPr>
        </p:nvSpPr>
        <p:spPr/>
        <p:txBody>
          <a:bodyPr/>
          <a:lstStyle/>
          <a:p>
            <a:r>
              <a:rPr lang="en-US" dirty="0"/>
              <a:t>Information and systems are used by the company to deliver value to our customers and business partners. As such the information has value and must be protected in accordance with its sensitivity. </a:t>
            </a:r>
          </a:p>
          <a:p>
            <a:r>
              <a:rPr lang="en-US" dirty="0"/>
              <a:t>This policy outlines the expectations and behaviors of the organization to protect those systems, applications, and information confidentiality, integrity, and availability. </a:t>
            </a:r>
          </a:p>
          <a:p>
            <a:r>
              <a:rPr lang="en-US" dirty="0"/>
              <a:t>This policies approach is to comprehensively provide the full scope of policy and delivering sound information to the organization. </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BF9F-2F6C-D7FD-217F-7F1A2702CF2E}"/>
              </a:ext>
            </a:extLst>
          </p:cNvPr>
          <p:cNvSpPr>
            <a:spLocks noGrp="1"/>
          </p:cNvSpPr>
          <p:nvPr>
            <p:ph type="title"/>
          </p:nvPr>
        </p:nvSpPr>
        <p:spPr/>
        <p:txBody>
          <a:bodyPr/>
          <a:lstStyle/>
          <a:p>
            <a:pPr algn="ctr"/>
            <a:r>
              <a:rPr lang="en-US" dirty="0"/>
              <a:t>Scope</a:t>
            </a:r>
          </a:p>
        </p:txBody>
      </p:sp>
      <p:sp>
        <p:nvSpPr>
          <p:cNvPr id="3" name="Content Placeholder 2">
            <a:extLst>
              <a:ext uri="{FF2B5EF4-FFF2-40B4-BE49-F238E27FC236}">
                <a16:creationId xmlns:a16="http://schemas.microsoft.com/office/drawing/2014/main" id="{794073B4-179C-46C9-3C1F-E00EFC43D0C0}"/>
              </a:ext>
            </a:extLst>
          </p:cNvPr>
          <p:cNvSpPr>
            <a:spLocks noGrp="1"/>
          </p:cNvSpPr>
          <p:nvPr>
            <p:ph idx="1"/>
          </p:nvPr>
        </p:nvSpPr>
        <p:spPr/>
        <p:txBody>
          <a:bodyPr/>
          <a:lstStyle/>
          <a:p>
            <a:r>
              <a:rPr lang="en-US" dirty="0"/>
              <a:t>This policy applies to all staff at [Company] and its subsidiaries, to include </a:t>
            </a:r>
            <a:r>
              <a:rPr lang="en-US"/>
              <a:t>any third-party </a:t>
            </a:r>
            <a:r>
              <a:rPr lang="en-US" dirty="0"/>
              <a:t>staff contracted or providing services on behalf of [Company].</a:t>
            </a:r>
          </a:p>
          <a:p>
            <a:r>
              <a:rPr lang="en-US" dirty="0"/>
              <a:t>This policy applies to all systems, applications, and data within the [Company] business.</a:t>
            </a:r>
          </a:p>
          <a:p>
            <a:endParaRPr lang="en-US" dirty="0"/>
          </a:p>
        </p:txBody>
      </p:sp>
    </p:spTree>
    <p:extLst>
      <p:ext uri="{BB962C8B-B14F-4D97-AF65-F5344CB8AC3E}">
        <p14:creationId xmlns:p14="http://schemas.microsoft.com/office/powerpoint/2010/main" val="166564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BF9F-2F6C-D7FD-217F-7F1A2702CF2E}"/>
              </a:ext>
            </a:extLst>
          </p:cNvPr>
          <p:cNvSpPr>
            <a:spLocks noGrp="1"/>
          </p:cNvSpPr>
          <p:nvPr>
            <p:ph type="title"/>
          </p:nvPr>
        </p:nvSpPr>
        <p:spPr/>
        <p:txBody>
          <a:bodyPr/>
          <a:lstStyle/>
          <a:p>
            <a:pPr algn="ctr"/>
            <a:r>
              <a:rPr lang="en-US" dirty="0"/>
              <a:t>Access Control</a:t>
            </a:r>
          </a:p>
        </p:txBody>
      </p:sp>
      <p:sp>
        <p:nvSpPr>
          <p:cNvPr id="3" name="Content Placeholder 2">
            <a:extLst>
              <a:ext uri="{FF2B5EF4-FFF2-40B4-BE49-F238E27FC236}">
                <a16:creationId xmlns:a16="http://schemas.microsoft.com/office/drawing/2014/main" id="{794073B4-179C-46C9-3C1F-E00EFC43D0C0}"/>
              </a:ext>
            </a:extLst>
          </p:cNvPr>
          <p:cNvSpPr>
            <a:spLocks noGrp="1"/>
          </p:cNvSpPr>
          <p:nvPr>
            <p:ph idx="1"/>
          </p:nvPr>
        </p:nvSpPr>
        <p:spPr/>
        <p:txBody>
          <a:bodyPr>
            <a:normAutofit/>
          </a:bodyPr>
          <a:lstStyle/>
          <a:p>
            <a:r>
              <a:rPr lang="en-US" dirty="0"/>
              <a:t>Any access granted to [Company] systems, applications, and data shall require appropriate approval. </a:t>
            </a:r>
          </a:p>
          <a:p>
            <a:r>
              <a:rPr lang="en-US" dirty="0"/>
              <a:t>All access systems, applications, and data shall be documented and reviewed for validity on management approved frequency. </a:t>
            </a:r>
          </a:p>
          <a:p>
            <a:r>
              <a:rPr lang="en-US" dirty="0"/>
              <a:t>Account access to systems, applications, and data shall be removed when no longer appropriate on demand, or as discovered during review. </a:t>
            </a:r>
          </a:p>
          <a:p>
            <a:r>
              <a:rPr lang="en-US" dirty="0"/>
              <a:t>User account types shall be appropriate for the user access required (i.e. General user, privileged user, third party).</a:t>
            </a:r>
          </a:p>
        </p:txBody>
      </p:sp>
    </p:spTree>
    <p:extLst>
      <p:ext uri="{BB962C8B-B14F-4D97-AF65-F5344CB8AC3E}">
        <p14:creationId xmlns:p14="http://schemas.microsoft.com/office/powerpoint/2010/main" val="291775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F4329-AC05-35CF-884E-393B536FEDF2}"/>
              </a:ext>
            </a:extLst>
          </p:cNvPr>
          <p:cNvSpPr>
            <a:spLocks noGrp="1"/>
          </p:cNvSpPr>
          <p:nvPr>
            <p:ph type="title"/>
          </p:nvPr>
        </p:nvSpPr>
        <p:spPr/>
        <p:txBody>
          <a:bodyPr/>
          <a:lstStyle/>
          <a:p>
            <a:pPr algn="ctr"/>
            <a:r>
              <a:rPr lang="en-US" dirty="0"/>
              <a:t>Authentication</a:t>
            </a:r>
          </a:p>
        </p:txBody>
      </p:sp>
      <p:sp>
        <p:nvSpPr>
          <p:cNvPr id="3" name="Text Placeholder 2">
            <a:extLst>
              <a:ext uri="{FF2B5EF4-FFF2-40B4-BE49-F238E27FC236}">
                <a16:creationId xmlns:a16="http://schemas.microsoft.com/office/drawing/2014/main" id="{E6B89C1B-0DB8-D691-001F-02903AB07ADF}"/>
              </a:ext>
            </a:extLst>
          </p:cNvPr>
          <p:cNvSpPr>
            <a:spLocks noGrp="1"/>
          </p:cNvSpPr>
          <p:nvPr>
            <p:ph type="body" sz="half" idx="2"/>
          </p:nvPr>
        </p:nvSpPr>
        <p:spPr/>
        <p:txBody>
          <a:bodyPr>
            <a:noAutofit/>
          </a:bodyPr>
          <a:lstStyle/>
          <a:p>
            <a:pPr marL="342900" indent="-342900">
              <a:buFont typeface="Arial" panose="020B0604020202020204" pitchFamily="34" charset="0"/>
              <a:buChar char="•"/>
            </a:pPr>
            <a:r>
              <a:rPr lang="en-US" sz="1400" dirty="0"/>
              <a:t>All access to organizational systems, applications, and data that is accessible via the internet (i.e. internet-facing systems) shall require multi-factor authentication.</a:t>
            </a:r>
          </a:p>
          <a:p>
            <a:pPr marL="342900" indent="-342900">
              <a:buFont typeface="Arial" panose="020B0604020202020204" pitchFamily="34" charset="0"/>
              <a:buChar char="•"/>
            </a:pPr>
            <a:r>
              <a:rPr lang="en-US" sz="1400" dirty="0"/>
              <a:t>All mobile devices (i.e. tablets, mobile phones) shall have a authentication mechanism to unlock and access the device. </a:t>
            </a:r>
          </a:p>
          <a:p>
            <a:pPr marL="342900" indent="-342900">
              <a:buFont typeface="Arial" panose="020B0604020202020204" pitchFamily="34" charset="0"/>
              <a:buChar char="•"/>
            </a:pPr>
            <a:r>
              <a:rPr lang="en-US" sz="1400" dirty="0"/>
              <a:t>Shared user accounts shall be explicitly approved for use by management on a case-by-case basis. </a:t>
            </a:r>
          </a:p>
        </p:txBody>
      </p:sp>
      <p:pic>
        <p:nvPicPr>
          <p:cNvPr id="10" name="Picture Placeholder 9">
            <a:extLst>
              <a:ext uri="{FF2B5EF4-FFF2-40B4-BE49-F238E27FC236}">
                <a16:creationId xmlns:a16="http://schemas.microsoft.com/office/drawing/2014/main" id="{A1885694-3667-E7A1-ADFB-855ED0C3AFA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38" r="38"/>
          <a:stretch/>
        </p:blipFill>
        <p:spPr/>
      </p:pic>
    </p:spTree>
    <p:extLst>
      <p:ext uri="{BB962C8B-B14F-4D97-AF65-F5344CB8AC3E}">
        <p14:creationId xmlns:p14="http://schemas.microsoft.com/office/powerpoint/2010/main" val="164685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F6D33-04F6-9801-837E-D503DA6298AB}"/>
              </a:ext>
            </a:extLst>
          </p:cNvPr>
          <p:cNvSpPr>
            <a:spLocks noGrp="1"/>
          </p:cNvSpPr>
          <p:nvPr>
            <p:ph type="title"/>
          </p:nvPr>
        </p:nvSpPr>
        <p:spPr/>
        <p:txBody>
          <a:bodyPr/>
          <a:lstStyle/>
          <a:p>
            <a:pPr algn="ctr"/>
            <a:r>
              <a:rPr lang="en-US" dirty="0"/>
              <a:t>Remote Access</a:t>
            </a:r>
          </a:p>
        </p:txBody>
      </p:sp>
      <p:sp>
        <p:nvSpPr>
          <p:cNvPr id="3" name="Content Placeholder 2">
            <a:extLst>
              <a:ext uri="{FF2B5EF4-FFF2-40B4-BE49-F238E27FC236}">
                <a16:creationId xmlns:a16="http://schemas.microsoft.com/office/drawing/2014/main" id="{5EF6B282-CBD7-EA4D-64CB-6D82388ED487}"/>
              </a:ext>
            </a:extLst>
          </p:cNvPr>
          <p:cNvSpPr>
            <a:spLocks noGrp="1"/>
          </p:cNvSpPr>
          <p:nvPr>
            <p:ph type="body" sz="half" idx="2"/>
          </p:nvPr>
        </p:nvSpPr>
        <p:spPr/>
        <p:txBody>
          <a:bodyPr>
            <a:normAutofit fontScale="77500" lnSpcReduction="20000"/>
          </a:bodyPr>
          <a:lstStyle/>
          <a:p>
            <a:r>
              <a:rPr lang="en-US" dirty="0"/>
              <a:t>Remote access shall be allowed using management-approved remote access solutions. </a:t>
            </a:r>
          </a:p>
          <a:p>
            <a:r>
              <a:rPr lang="en-US" dirty="0"/>
              <a:t>Third-party access shall be reviewed and approved. </a:t>
            </a:r>
          </a:p>
          <a:p>
            <a:r>
              <a:rPr lang="en-US" dirty="0"/>
              <a:t>Third-party access shall require a member of [Company/Organization] to explicitly authorize or approve the access on-demand. </a:t>
            </a:r>
          </a:p>
        </p:txBody>
      </p:sp>
      <p:pic>
        <p:nvPicPr>
          <p:cNvPr id="5" name="Picture 4">
            <a:extLst>
              <a:ext uri="{FF2B5EF4-FFF2-40B4-BE49-F238E27FC236}">
                <a16:creationId xmlns:a16="http://schemas.microsoft.com/office/drawing/2014/main" id="{3DF5589B-C23E-6B01-9102-C1C6E4A3D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5412" y="914400"/>
            <a:ext cx="3676650" cy="5157071"/>
          </a:xfrm>
          <a:prstGeom prst="rect">
            <a:avLst/>
          </a:prstGeom>
        </p:spPr>
      </p:pic>
    </p:spTree>
    <p:extLst>
      <p:ext uri="{BB962C8B-B14F-4D97-AF65-F5344CB8AC3E}">
        <p14:creationId xmlns:p14="http://schemas.microsoft.com/office/powerpoint/2010/main" val="271596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7B15-083E-E193-1AE1-70380EB57BC9}"/>
              </a:ext>
            </a:extLst>
          </p:cNvPr>
          <p:cNvSpPr>
            <a:spLocks noGrp="1"/>
          </p:cNvSpPr>
          <p:nvPr>
            <p:ph type="title"/>
          </p:nvPr>
        </p:nvSpPr>
        <p:spPr/>
        <p:txBody>
          <a:bodyPr/>
          <a:lstStyle/>
          <a:p>
            <a:pPr algn="ctr"/>
            <a:r>
              <a:rPr lang="en-US" dirty="0"/>
              <a:t>Non-Compliance</a:t>
            </a:r>
          </a:p>
        </p:txBody>
      </p:sp>
      <p:sp>
        <p:nvSpPr>
          <p:cNvPr id="3" name="Content Placeholder 2">
            <a:extLst>
              <a:ext uri="{FF2B5EF4-FFF2-40B4-BE49-F238E27FC236}">
                <a16:creationId xmlns:a16="http://schemas.microsoft.com/office/drawing/2014/main" id="{D5EF40DB-69F8-623F-4388-22B82871B3E9}"/>
              </a:ext>
            </a:extLst>
          </p:cNvPr>
          <p:cNvSpPr>
            <a:spLocks noGrp="1"/>
          </p:cNvSpPr>
          <p:nvPr>
            <p:ph idx="1"/>
          </p:nvPr>
        </p:nvSpPr>
        <p:spPr/>
        <p:txBody>
          <a:bodyPr/>
          <a:lstStyle/>
          <a:p>
            <a:r>
              <a:rPr lang="en-US" dirty="0"/>
              <a:t>Any individuals that this policy applies to are required to be in full compliance towards. Non-compliance with [Company] policy will result in appropriate management-guided sanctions. </a:t>
            </a:r>
          </a:p>
        </p:txBody>
      </p:sp>
    </p:spTree>
    <p:extLst>
      <p:ext uri="{BB962C8B-B14F-4D97-AF65-F5344CB8AC3E}">
        <p14:creationId xmlns:p14="http://schemas.microsoft.com/office/powerpoint/2010/main" val="411731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629A3-B80E-7600-522E-F22E375D1A31}"/>
              </a:ext>
            </a:extLst>
          </p:cNvPr>
          <p:cNvSpPr>
            <a:spLocks noGrp="1"/>
          </p:cNvSpPr>
          <p:nvPr>
            <p:ph type="title"/>
          </p:nvPr>
        </p:nvSpPr>
        <p:spPr/>
        <p:txBody>
          <a:bodyPr/>
          <a:lstStyle/>
          <a:p>
            <a:pPr algn="ctr"/>
            <a:r>
              <a:rPr lang="en-US" dirty="0"/>
              <a:t>Management Commitment and Authority </a:t>
            </a:r>
          </a:p>
        </p:txBody>
      </p:sp>
      <p:sp>
        <p:nvSpPr>
          <p:cNvPr id="3" name="Content Placeholder 2">
            <a:extLst>
              <a:ext uri="{FF2B5EF4-FFF2-40B4-BE49-F238E27FC236}">
                <a16:creationId xmlns:a16="http://schemas.microsoft.com/office/drawing/2014/main" id="{14194E5A-6495-D7A0-06F8-EEA444B23BF2}"/>
              </a:ext>
            </a:extLst>
          </p:cNvPr>
          <p:cNvSpPr>
            <a:spLocks noGrp="1"/>
          </p:cNvSpPr>
          <p:nvPr>
            <p:ph idx="1"/>
          </p:nvPr>
        </p:nvSpPr>
        <p:spPr/>
        <p:txBody>
          <a:bodyPr/>
          <a:lstStyle/>
          <a:p>
            <a:r>
              <a:rPr lang="en-US" dirty="0"/>
              <a:t>This policy is supported and approved by [name/role]. This is the published information security policy effective [publish date].</a:t>
            </a:r>
          </a:p>
          <a:p>
            <a:pPr marL="0" indent="0">
              <a:buNone/>
            </a:pPr>
            <a:endParaRPr lang="en-US" dirty="0"/>
          </a:p>
          <a:p>
            <a:pPr marL="0" indent="0">
              <a:buNone/>
            </a:pPr>
            <a:r>
              <a:rPr lang="en-US" dirty="0"/>
              <a:t>[name/role]</a:t>
            </a:r>
          </a:p>
        </p:txBody>
      </p:sp>
    </p:spTree>
    <p:extLst>
      <p:ext uri="{BB962C8B-B14F-4D97-AF65-F5344CB8AC3E}">
        <p14:creationId xmlns:p14="http://schemas.microsoft.com/office/powerpoint/2010/main" val="212569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DF114-540A-5CAA-C495-911F079B5D37}"/>
              </a:ext>
            </a:extLst>
          </p:cNvPr>
          <p:cNvSpPr>
            <a:spLocks noGrp="1"/>
          </p:cNvSpPr>
          <p:nvPr>
            <p:ph type="title"/>
          </p:nvPr>
        </p:nvSpPr>
        <p:spPr/>
        <p:txBody>
          <a:bodyPr/>
          <a:lstStyle/>
          <a:p>
            <a:pPr algn="ctr"/>
            <a:r>
              <a:rPr lang="en-US" dirty="0"/>
              <a:t>Review Schedule </a:t>
            </a:r>
          </a:p>
        </p:txBody>
      </p:sp>
      <p:sp>
        <p:nvSpPr>
          <p:cNvPr id="3" name="Content Placeholder 2">
            <a:extLst>
              <a:ext uri="{FF2B5EF4-FFF2-40B4-BE49-F238E27FC236}">
                <a16:creationId xmlns:a16="http://schemas.microsoft.com/office/drawing/2014/main" id="{69CEC8CD-B2EE-0619-2744-4AB617D6A5BD}"/>
              </a:ext>
            </a:extLst>
          </p:cNvPr>
          <p:cNvSpPr>
            <a:spLocks noGrp="1"/>
          </p:cNvSpPr>
          <p:nvPr>
            <p:ph idx="1"/>
          </p:nvPr>
        </p:nvSpPr>
        <p:spPr/>
        <p:txBody>
          <a:bodyPr/>
          <a:lstStyle/>
          <a:p>
            <a:r>
              <a:rPr lang="en-US" dirty="0"/>
              <a:t>This policy shall be reviewed and updated in accordance with management defined frequency and disseminated to all applicable users as updates occur. </a:t>
            </a:r>
          </a:p>
        </p:txBody>
      </p:sp>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181</TotalTime>
  <Words>493</Words>
  <Application>Microsoft Office PowerPoint</Application>
  <PresentationFormat>Custom</PresentationFormat>
  <Paragraphs>35</Paragraphs>
  <Slides>10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Tech 16x9</vt:lpstr>
      <vt:lpstr>Information Security Policy</vt:lpstr>
      <vt:lpstr>CIA Triad</vt:lpstr>
      <vt:lpstr>What is the purpose of Information Security Policy?</vt:lpstr>
      <vt:lpstr>Scope</vt:lpstr>
      <vt:lpstr>Access Control</vt:lpstr>
      <vt:lpstr>Authentication</vt:lpstr>
      <vt:lpstr>Remote Access</vt:lpstr>
      <vt:lpstr>Non-Compliance</vt:lpstr>
      <vt:lpstr>Management Commitment and Authority </vt:lpstr>
      <vt:lpstr>Review Schedule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Mohmoud</dc:creator>
  <cp:lastModifiedBy>Adam Mohmoud</cp:lastModifiedBy>
  <cp:revision>18</cp:revision>
  <dcterms:created xsi:type="dcterms:W3CDTF">2024-07-20T02:59:22Z</dcterms:created>
  <dcterms:modified xsi:type="dcterms:W3CDTF">2025-11-29T05:15:05Z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